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E317-85AC-8E3F-16BD-BD929AA91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B2734CB-D717-DB1C-4C94-626E5161D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342185-E145-791A-CBBD-B2497B2FA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AF8-0F5C-47C5-A5DC-B8C45E5575F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AB1E97-38AF-BFB4-AB07-880DBF2A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99F6FE-AAE2-B262-837E-1C9BF1E2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185E-9975-4E23-9689-F02EF3B53B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802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B71D53-2864-EE15-F4F8-89EFC2A9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DF43A3-1AE8-545E-4262-1E5C0BC6A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6477E8-27A6-77EC-9244-453ED1EC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AF8-0F5C-47C5-A5DC-B8C45E5575F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56762A-57D1-BBE9-A87F-1E43932E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D24A84-2AAD-EA6E-5038-3C9877339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185E-9975-4E23-9689-F02EF3B53B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71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B7B10-5386-3C9E-1AA3-EEC799D9C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B66CB6-4809-0BD5-FFC7-B232B20A2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5E4CCC-67C2-88C5-1B50-E7C6F9792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AF8-0F5C-47C5-A5DC-B8C45E5575F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1CE751-37B4-F02C-2A53-D1330C16A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509579-5E65-5E07-6339-B3BDADAC9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185E-9975-4E23-9689-F02EF3B53B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4851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D261E6-299D-92BA-C24D-F99E9CA4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05D183-9E6A-3FC6-8BF4-F4287C2E5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646C99D-9F6E-BFF1-F12B-EE0AF42F4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C40971-FCC2-A3C7-37EA-41F691CA3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AF8-0F5C-47C5-A5DC-B8C45E5575F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598DED-8C0D-AB27-35F3-3CF8095E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9965267-780D-9C07-2725-E22277E5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185E-9975-4E23-9689-F02EF3B53B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992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73D4AF-6483-8685-2F6E-3D3BF30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AAF787-087D-FC36-7137-40810B383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E3FE350-058C-AC5B-DF77-6F4807E93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05B1FD4-96C7-59E2-66A6-5599AABE6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C18C772-E0F5-85BA-087F-3E56F5F6E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6E8AA90-E62C-127C-75AA-6EABD44D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AF8-0F5C-47C5-A5DC-B8C45E5575F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C8AF7BA-8549-5BB8-C576-2A7F4BA1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35B5411-6C24-F06D-26E1-5AE841F5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185E-9975-4E23-9689-F02EF3B53B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7597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F2FBF-29C6-67DE-4394-4F0726872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127897-1C90-8497-6429-62670342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AF8-0F5C-47C5-A5DC-B8C45E5575F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875D2F4-D0AA-7053-C577-5CF332203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BCFEBA-584A-7AFA-76D6-0BD93CEE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185E-9975-4E23-9689-F02EF3B53B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4377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1B13FB-5A4E-0CE5-08A8-4E2712A5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AF8-0F5C-47C5-A5DC-B8C45E5575F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C91283B-C59C-EDFC-953F-31CBA8D4D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D606B6-3F2B-6AE7-4448-4ADBF5855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185E-9975-4E23-9689-F02EF3B53B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976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8B6C9C-12A9-49A8-1AAE-01821B75F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4EDD1A-09B5-DF1E-77F3-C9593835F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B36FA5-DA0F-30FF-89B9-D4ACEF00A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B54112-AC8A-7280-3207-A438A12E0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AF8-0F5C-47C5-A5DC-B8C45E5575F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BC68C3-0614-4548-0B73-194AFD9AA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5EC69A4-5A98-2BD7-3FE2-E62EC1997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185E-9975-4E23-9689-F02EF3B53B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997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FAA843-C403-AF83-469C-05A4FDDE7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8D38899-7ADC-1ACD-ADCA-7C55506E6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8E540F-53D7-D23B-8A4C-8032F81E4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21D53D-D358-8436-174C-2982A33A9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AF8-0F5C-47C5-A5DC-B8C45E5575F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7C9235-3B71-BEC8-34CA-95940097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CAB06D-95F6-2E15-783A-3CA1BEEC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185E-9975-4E23-9689-F02EF3B53B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94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32160-CD8D-A38D-F790-40B17A09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D0969F8-DD3B-846E-63B6-F764572D5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9728A9-857E-669F-CE62-F6D490763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AF8-0F5C-47C5-A5DC-B8C45E5575F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20E200-329B-D66E-33F3-0302511A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944C7F-631A-1244-BEA0-7FF60AF7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185E-9975-4E23-9689-F02EF3B53B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485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6D197DD-AB63-F1CD-E073-1DA235A10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7891AA-CFEB-9334-22B1-D4CA09041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11F417-2B75-F16A-3E02-4000EE928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BAF8-0F5C-47C5-A5DC-B8C45E5575F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B5CA5B-F16F-7F86-DA49-DE021E92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20E2AD-5451-B620-74E3-F942D9DB6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7185E-9975-4E23-9689-F02EF3B53B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4110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926B9A6-FD65-1E5A-EB17-6344FB9AF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985C77-A813-F904-E95A-9A0047158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53C903-C77F-F796-B9CF-B766622E0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2BAF8-0F5C-47C5-A5DC-B8C45E5575F9}" type="datetimeFigureOut">
              <a:rPr lang="de-DE" smtClean="0"/>
              <a:t>17.09.2026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F549EF-E016-9312-8373-020951530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EC2B16-A893-8253-E8F8-3FDD93B95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7185E-9975-4E23-9689-F02EF3B53B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8554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1E37540-3B6E-87A2-EB38-B1457423F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166DD7A4-461B-5B37-731A-7E3A65D35622}"/>
              </a:ext>
            </a:extLst>
          </p:cNvPr>
          <p:cNvSpPr/>
          <p:nvPr/>
        </p:nvSpPr>
        <p:spPr>
          <a:xfrm>
            <a:off x="4209922" y="3025498"/>
            <a:ext cx="1491269" cy="3252564"/>
          </a:xfrm>
          <a:prstGeom prst="round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FFC000"/>
                </a:solidFill>
              </a:rPr>
              <a:t>3A Sicherung</a:t>
            </a:r>
          </a:p>
        </p:txBody>
      </p:sp>
      <p:sp>
        <p:nvSpPr>
          <p:cNvPr id="17" name="Sprechblase: rechteckig mit abgerundeten Ecken 16">
            <a:extLst>
              <a:ext uri="{FF2B5EF4-FFF2-40B4-BE49-F238E27FC236}">
                <a16:creationId xmlns:a16="http://schemas.microsoft.com/office/drawing/2014/main" id="{62068BDD-77FF-F75E-C8A7-976BD67B87EB}"/>
              </a:ext>
            </a:extLst>
          </p:cNvPr>
          <p:cNvSpPr/>
          <p:nvPr/>
        </p:nvSpPr>
        <p:spPr>
          <a:xfrm>
            <a:off x="5601969" y="5889029"/>
            <a:ext cx="2983563" cy="926248"/>
          </a:xfrm>
          <a:prstGeom prst="wedgeRoundRectCallout">
            <a:avLst>
              <a:gd name="adj1" fmla="val 21067"/>
              <a:gd name="adj2" fmla="val -10871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Spannungsversorgung</a:t>
            </a:r>
            <a:br>
              <a:rPr lang="de-DE" sz="2000" dirty="0"/>
            </a:br>
            <a:r>
              <a:rPr lang="de-DE" sz="2000" dirty="0"/>
              <a:t>Mikrocontroller</a:t>
            </a:r>
            <a:br>
              <a:rPr lang="de-DE" sz="2000" dirty="0"/>
            </a:br>
            <a:r>
              <a:rPr lang="de-DE" sz="2000" dirty="0"/>
              <a:t>(Micro-USB)</a:t>
            </a:r>
          </a:p>
        </p:txBody>
      </p:sp>
      <p:sp>
        <p:nvSpPr>
          <p:cNvPr id="19" name="Sprechblase: rechteckig mit abgerundeten Ecken 18">
            <a:extLst>
              <a:ext uri="{FF2B5EF4-FFF2-40B4-BE49-F238E27FC236}">
                <a16:creationId xmlns:a16="http://schemas.microsoft.com/office/drawing/2014/main" id="{B0449B26-99DF-5617-08B9-256D065E1F6D}"/>
              </a:ext>
            </a:extLst>
          </p:cNvPr>
          <p:cNvSpPr/>
          <p:nvPr/>
        </p:nvSpPr>
        <p:spPr>
          <a:xfrm>
            <a:off x="8975650" y="5290406"/>
            <a:ext cx="1971750" cy="731315"/>
          </a:xfrm>
          <a:prstGeom prst="wedgeRoundRectCallout">
            <a:avLst>
              <a:gd name="adj1" fmla="val -62158"/>
              <a:gd name="adj2" fmla="val -10618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PCAN-Adapter</a:t>
            </a:r>
            <a:br>
              <a:rPr lang="de-DE" sz="2000" dirty="0"/>
            </a:br>
            <a:r>
              <a:rPr lang="de-DE" sz="2000" dirty="0"/>
              <a:t>Sub-D 9 Polig</a:t>
            </a:r>
          </a:p>
        </p:txBody>
      </p:sp>
      <p:sp>
        <p:nvSpPr>
          <p:cNvPr id="21" name="Sprechblase: rechteckig mit abgerundeten Ecken 20">
            <a:extLst>
              <a:ext uri="{FF2B5EF4-FFF2-40B4-BE49-F238E27FC236}">
                <a16:creationId xmlns:a16="http://schemas.microsoft.com/office/drawing/2014/main" id="{99946C0D-0C7C-6D40-3329-DE021994892F}"/>
              </a:ext>
            </a:extLst>
          </p:cNvPr>
          <p:cNvSpPr/>
          <p:nvPr/>
        </p:nvSpPr>
        <p:spPr>
          <a:xfrm>
            <a:off x="8893156" y="3722814"/>
            <a:ext cx="2746393" cy="698055"/>
          </a:xfrm>
          <a:prstGeom prst="wedgeRoundRectCallout">
            <a:avLst>
              <a:gd name="adj1" fmla="val -26320"/>
              <a:gd name="adj2" fmla="val -27707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/>
              <a:t>Spannungsversorgung</a:t>
            </a:r>
            <a:br>
              <a:rPr lang="de-DE" sz="2000" dirty="0"/>
            </a:br>
            <a:r>
              <a:rPr lang="de-DE" sz="2000" dirty="0"/>
              <a:t>Platine </a:t>
            </a:r>
            <a:r>
              <a:rPr lang="de-DE" sz="2000"/>
              <a:t>(36-75V</a:t>
            </a:r>
            <a:r>
              <a:rPr lang="de-DE" sz="2000" dirty="0"/>
              <a:t>)</a:t>
            </a:r>
          </a:p>
        </p:txBody>
      </p:sp>
      <p:sp>
        <p:nvSpPr>
          <p:cNvPr id="22" name="Gleichschenkliges Dreieck 21">
            <a:extLst>
              <a:ext uri="{FF2B5EF4-FFF2-40B4-BE49-F238E27FC236}">
                <a16:creationId xmlns:a16="http://schemas.microsoft.com/office/drawing/2014/main" id="{0B04D70A-A1B2-7D29-E141-D1324DD0C444}"/>
              </a:ext>
            </a:extLst>
          </p:cNvPr>
          <p:cNvSpPr/>
          <p:nvPr/>
        </p:nvSpPr>
        <p:spPr>
          <a:xfrm>
            <a:off x="8179770" y="3844925"/>
            <a:ext cx="711864" cy="180890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4" name="Sprechblase: rechteckig mit abgerundeten Ecken 23">
            <a:extLst>
              <a:ext uri="{FF2B5EF4-FFF2-40B4-BE49-F238E27FC236}">
                <a16:creationId xmlns:a16="http://schemas.microsoft.com/office/drawing/2014/main" id="{C9ECC92F-CC82-2547-B71A-5A317F1CF1DE}"/>
              </a:ext>
            </a:extLst>
          </p:cNvPr>
          <p:cNvSpPr/>
          <p:nvPr/>
        </p:nvSpPr>
        <p:spPr>
          <a:xfrm>
            <a:off x="5191743" y="2702771"/>
            <a:ext cx="2381535" cy="869031"/>
          </a:xfrm>
          <a:prstGeom prst="wedgeRoundRectCallout">
            <a:avLst>
              <a:gd name="adj1" fmla="val 60657"/>
              <a:gd name="adj2" fmla="val 16314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Balance-Strommessung</a:t>
            </a:r>
            <a:br>
              <a:rPr lang="de-DE" dirty="0"/>
            </a:br>
            <a:r>
              <a:rPr lang="de-DE" dirty="0"/>
              <a:t>1V ≙ 1A</a:t>
            </a:r>
          </a:p>
        </p:txBody>
      </p:sp>
      <p:sp>
        <p:nvSpPr>
          <p:cNvPr id="26" name="Gleichschenkliges Dreieck 25">
            <a:extLst>
              <a:ext uri="{FF2B5EF4-FFF2-40B4-BE49-F238E27FC236}">
                <a16:creationId xmlns:a16="http://schemas.microsoft.com/office/drawing/2014/main" id="{827F0627-FC52-6559-EE8E-BDC17ACDEBC7}"/>
              </a:ext>
            </a:extLst>
          </p:cNvPr>
          <p:cNvSpPr/>
          <p:nvPr/>
        </p:nvSpPr>
        <p:spPr>
          <a:xfrm>
            <a:off x="5601970" y="2204931"/>
            <a:ext cx="309880" cy="497840"/>
          </a:xfrm>
          <a:prstGeom prst="triangle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F211944-DA59-2F39-C848-D2BC3E623A1F}"/>
              </a:ext>
            </a:extLst>
          </p:cNvPr>
          <p:cNvSpPr txBox="1"/>
          <p:nvPr/>
        </p:nvSpPr>
        <p:spPr>
          <a:xfrm rot="21393101">
            <a:off x="5998749" y="4145640"/>
            <a:ext cx="381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50" dirty="0">
                <a:solidFill>
                  <a:srgbClr val="FFFF00"/>
                </a:solidFill>
              </a:rPr>
              <a:t>x</a:t>
            </a:r>
          </a:p>
          <a:p>
            <a:r>
              <a:rPr lang="de-DE" sz="350" dirty="0">
                <a:solidFill>
                  <a:srgbClr val="FFFF00"/>
                </a:solidFill>
              </a:rPr>
              <a:t>0</a:t>
            </a:r>
          </a:p>
          <a:p>
            <a:r>
              <a:rPr lang="de-DE" sz="350" dirty="0">
                <a:solidFill>
                  <a:srgbClr val="FFFF00"/>
                </a:solidFill>
              </a:rPr>
              <a:t>1</a:t>
            </a:r>
          </a:p>
          <a:p>
            <a:r>
              <a:rPr lang="de-DE" sz="350" dirty="0">
                <a:solidFill>
                  <a:srgbClr val="FFFF00"/>
                </a:solidFill>
              </a:rPr>
              <a:t>2</a:t>
            </a:r>
          </a:p>
          <a:p>
            <a:r>
              <a:rPr lang="de-DE" sz="350" dirty="0">
                <a:solidFill>
                  <a:srgbClr val="FFFF00"/>
                </a:solidFill>
              </a:rPr>
              <a:t>3</a:t>
            </a:r>
          </a:p>
          <a:p>
            <a:r>
              <a:rPr lang="de-DE" sz="350" dirty="0">
                <a:solidFill>
                  <a:srgbClr val="FFFF00"/>
                </a:solidFill>
              </a:rPr>
              <a:t>4</a:t>
            </a:r>
          </a:p>
          <a:p>
            <a:r>
              <a:rPr lang="de-DE" sz="350" dirty="0">
                <a:solidFill>
                  <a:srgbClr val="FFFF00"/>
                </a:solidFill>
              </a:rPr>
              <a:t>5</a:t>
            </a:r>
          </a:p>
          <a:p>
            <a:r>
              <a:rPr lang="de-DE" sz="350" dirty="0">
                <a:solidFill>
                  <a:srgbClr val="FFFF00"/>
                </a:solidFill>
              </a:rPr>
              <a:t>6</a:t>
            </a:r>
          </a:p>
          <a:p>
            <a:r>
              <a:rPr lang="de-DE" sz="350" dirty="0">
                <a:solidFill>
                  <a:srgbClr val="FFFF00"/>
                </a:solidFill>
              </a:rPr>
              <a:t>7</a:t>
            </a:r>
          </a:p>
          <a:p>
            <a:r>
              <a:rPr lang="de-DE" sz="350" dirty="0">
                <a:solidFill>
                  <a:srgbClr val="FFFF00"/>
                </a:solidFill>
              </a:rPr>
              <a:t>8</a:t>
            </a:r>
          </a:p>
          <a:p>
            <a:r>
              <a:rPr lang="de-DE" sz="350" dirty="0">
                <a:solidFill>
                  <a:srgbClr val="FFFF00"/>
                </a:solidFill>
              </a:rPr>
              <a:t>9</a:t>
            </a:r>
          </a:p>
          <a:p>
            <a:r>
              <a:rPr lang="de-DE" sz="350" dirty="0">
                <a:solidFill>
                  <a:srgbClr val="FFFF00"/>
                </a:solidFill>
              </a:rPr>
              <a:t>10</a:t>
            </a:r>
          </a:p>
          <a:p>
            <a:endParaRPr lang="de-DE" sz="350" dirty="0">
              <a:solidFill>
                <a:srgbClr val="FFFF00"/>
              </a:solidFill>
            </a:endParaRPr>
          </a:p>
          <a:p>
            <a:r>
              <a:rPr lang="de-DE" sz="350" dirty="0">
                <a:solidFill>
                  <a:srgbClr val="FFFF00"/>
                </a:solidFill>
              </a:rPr>
              <a:t>11</a:t>
            </a:r>
          </a:p>
          <a:p>
            <a:r>
              <a:rPr lang="de-DE" sz="350" dirty="0">
                <a:solidFill>
                  <a:srgbClr val="FFFF00"/>
                </a:solidFill>
              </a:rPr>
              <a:t>12</a:t>
            </a:r>
          </a:p>
          <a:p>
            <a:r>
              <a:rPr lang="de-DE" sz="350" dirty="0">
                <a:solidFill>
                  <a:srgbClr val="FFFF00"/>
                </a:solidFill>
              </a:rPr>
              <a:t>13</a:t>
            </a:r>
          </a:p>
          <a:p>
            <a:endParaRPr lang="de-DE" sz="350" dirty="0">
              <a:solidFill>
                <a:srgbClr val="FFFF00"/>
              </a:solidFill>
            </a:endParaRPr>
          </a:p>
          <a:p>
            <a:r>
              <a:rPr lang="de-DE" sz="350" dirty="0">
                <a:solidFill>
                  <a:srgbClr val="FFFF00"/>
                </a:solidFill>
              </a:rPr>
              <a:t>14</a:t>
            </a:r>
          </a:p>
          <a:p>
            <a:r>
              <a:rPr lang="de-DE" sz="350" dirty="0">
                <a:solidFill>
                  <a:srgbClr val="FFFF00"/>
                </a:solidFill>
              </a:rPr>
              <a:t>15</a:t>
            </a:r>
          </a:p>
          <a:p>
            <a:r>
              <a:rPr lang="de-DE" sz="350" dirty="0">
                <a:solidFill>
                  <a:srgbClr val="FFFF00"/>
                </a:solidFill>
              </a:rPr>
              <a:t>16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9463D615-0C6E-9786-A618-2E726F0DFABF}"/>
              </a:ext>
            </a:extLst>
          </p:cNvPr>
          <p:cNvSpPr txBox="1"/>
          <p:nvPr/>
        </p:nvSpPr>
        <p:spPr>
          <a:xfrm>
            <a:off x="2503860" y="3332344"/>
            <a:ext cx="31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29" name="Legende: mit gebogener Linie 28">
            <a:extLst>
              <a:ext uri="{FF2B5EF4-FFF2-40B4-BE49-F238E27FC236}">
                <a16:creationId xmlns:a16="http://schemas.microsoft.com/office/drawing/2014/main" id="{EAA69D94-0B3E-855D-F62A-92A1F1FD8EBA}"/>
              </a:ext>
            </a:extLst>
          </p:cNvPr>
          <p:cNvSpPr/>
          <p:nvPr/>
        </p:nvSpPr>
        <p:spPr>
          <a:xfrm>
            <a:off x="3150846" y="2940051"/>
            <a:ext cx="1177790" cy="4051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9724"/>
              <a:gd name="adj6" fmla="val -2456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1 (Bat-)</a:t>
            </a:r>
          </a:p>
        </p:txBody>
      </p:sp>
      <p:sp>
        <p:nvSpPr>
          <p:cNvPr id="31" name="Legende: mit gebogener Linie 30">
            <a:extLst>
              <a:ext uri="{FF2B5EF4-FFF2-40B4-BE49-F238E27FC236}">
                <a16:creationId xmlns:a16="http://schemas.microsoft.com/office/drawing/2014/main" id="{DE6E3ABA-02F0-D21B-6F8D-EC54F9EB3771}"/>
              </a:ext>
            </a:extLst>
          </p:cNvPr>
          <p:cNvSpPr/>
          <p:nvPr/>
        </p:nvSpPr>
        <p:spPr>
          <a:xfrm>
            <a:off x="2554213" y="4258627"/>
            <a:ext cx="517105" cy="47178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851"/>
              <a:gd name="adj6" fmla="val -391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/>
              <a:t>2</a:t>
            </a:r>
          </a:p>
        </p:txBody>
      </p:sp>
      <p:sp>
        <p:nvSpPr>
          <p:cNvPr id="33" name="Legende: mit gebogener Linie 32">
            <a:extLst>
              <a:ext uri="{FF2B5EF4-FFF2-40B4-BE49-F238E27FC236}">
                <a16:creationId xmlns:a16="http://schemas.microsoft.com/office/drawing/2014/main" id="{8CD21655-652D-2B80-4A34-A785726AF6C4}"/>
              </a:ext>
            </a:extLst>
          </p:cNvPr>
          <p:cNvSpPr/>
          <p:nvPr/>
        </p:nvSpPr>
        <p:spPr>
          <a:xfrm>
            <a:off x="2323823" y="2843213"/>
            <a:ext cx="481289" cy="4051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63737"/>
              <a:gd name="adj6" fmla="val -174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/>
              <a:t>3</a:t>
            </a:r>
          </a:p>
        </p:txBody>
      </p:sp>
      <p:sp>
        <p:nvSpPr>
          <p:cNvPr id="35" name="Legende: mit gebogener Linie 34">
            <a:extLst>
              <a:ext uri="{FF2B5EF4-FFF2-40B4-BE49-F238E27FC236}">
                <a16:creationId xmlns:a16="http://schemas.microsoft.com/office/drawing/2014/main" id="{096EB587-DD8C-EA94-646B-EBE7EDEF0228}"/>
              </a:ext>
            </a:extLst>
          </p:cNvPr>
          <p:cNvSpPr/>
          <p:nvPr/>
        </p:nvSpPr>
        <p:spPr>
          <a:xfrm>
            <a:off x="1731342" y="4420869"/>
            <a:ext cx="517105" cy="47178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7682"/>
              <a:gd name="adj6" fmla="val -132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/>
              <a:t>4</a:t>
            </a:r>
          </a:p>
        </p:txBody>
      </p:sp>
      <p:sp>
        <p:nvSpPr>
          <p:cNvPr id="37" name="Legende: mit gebogener Linie 36">
            <a:extLst>
              <a:ext uri="{FF2B5EF4-FFF2-40B4-BE49-F238E27FC236}">
                <a16:creationId xmlns:a16="http://schemas.microsoft.com/office/drawing/2014/main" id="{BC7A513D-E481-E792-34EE-2112056FCC8A}"/>
              </a:ext>
            </a:extLst>
          </p:cNvPr>
          <p:cNvSpPr/>
          <p:nvPr/>
        </p:nvSpPr>
        <p:spPr>
          <a:xfrm>
            <a:off x="1689005" y="2836396"/>
            <a:ext cx="428573" cy="41878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58598"/>
              <a:gd name="adj6" fmla="val -180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/>
              <a:t>5</a:t>
            </a:r>
          </a:p>
        </p:txBody>
      </p:sp>
      <p:sp>
        <p:nvSpPr>
          <p:cNvPr id="39" name="Legende: mit gebogener Linie 38">
            <a:extLst>
              <a:ext uri="{FF2B5EF4-FFF2-40B4-BE49-F238E27FC236}">
                <a16:creationId xmlns:a16="http://schemas.microsoft.com/office/drawing/2014/main" id="{6E1E046E-9584-D889-9825-2F41EE548265}"/>
              </a:ext>
            </a:extLst>
          </p:cNvPr>
          <p:cNvSpPr/>
          <p:nvPr/>
        </p:nvSpPr>
        <p:spPr>
          <a:xfrm>
            <a:off x="69849" y="4499504"/>
            <a:ext cx="1217083" cy="436705"/>
          </a:xfrm>
          <a:prstGeom prst="borderCallout2">
            <a:avLst>
              <a:gd name="adj1" fmla="val 16550"/>
              <a:gd name="adj2" fmla="val 89325"/>
              <a:gd name="adj3" fmla="val -1050"/>
              <a:gd name="adj4" fmla="val 97267"/>
              <a:gd name="adj5" fmla="val -58109"/>
              <a:gd name="adj6" fmla="val 101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6 (Bat+)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E49FC39C-D690-A000-5A41-9A75109CE2E8}"/>
              </a:ext>
            </a:extLst>
          </p:cNvPr>
          <p:cNvSpPr txBox="1"/>
          <p:nvPr/>
        </p:nvSpPr>
        <p:spPr>
          <a:xfrm rot="492114">
            <a:off x="3102279" y="4570957"/>
            <a:ext cx="381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solidFill>
                  <a:srgbClr val="FFFF00"/>
                </a:solidFill>
              </a:rPr>
              <a:t>X</a:t>
            </a:r>
          </a:p>
          <a:p>
            <a:r>
              <a:rPr lang="de-DE" sz="600" dirty="0">
                <a:solidFill>
                  <a:srgbClr val="FFFF00"/>
                </a:solidFill>
              </a:rPr>
              <a:t>16</a:t>
            </a:r>
          </a:p>
          <a:p>
            <a:r>
              <a:rPr lang="de-DE" sz="600" dirty="0">
                <a:solidFill>
                  <a:srgbClr val="FFFF00"/>
                </a:solidFill>
              </a:rPr>
              <a:t>15</a:t>
            </a:r>
          </a:p>
          <a:p>
            <a:r>
              <a:rPr lang="de-DE" sz="600" dirty="0">
                <a:solidFill>
                  <a:srgbClr val="FFFF00"/>
                </a:solidFill>
              </a:rPr>
              <a:t>14</a:t>
            </a:r>
          </a:p>
          <a:p>
            <a:r>
              <a:rPr lang="de-DE" sz="600" dirty="0">
                <a:solidFill>
                  <a:srgbClr val="FFFF00"/>
                </a:solidFill>
              </a:rPr>
              <a:t>13</a:t>
            </a:r>
          </a:p>
          <a:p>
            <a:r>
              <a:rPr lang="de-DE" sz="600" dirty="0">
                <a:solidFill>
                  <a:srgbClr val="FFFF00"/>
                </a:solidFill>
              </a:rPr>
              <a:t>12</a:t>
            </a:r>
          </a:p>
          <a:p>
            <a:r>
              <a:rPr lang="de-DE" sz="600" dirty="0">
                <a:solidFill>
                  <a:srgbClr val="FFFF00"/>
                </a:solidFill>
              </a:rPr>
              <a:t>11</a:t>
            </a:r>
          </a:p>
          <a:p>
            <a:r>
              <a:rPr lang="de-DE" sz="600" dirty="0">
                <a:solidFill>
                  <a:srgbClr val="FFFF00"/>
                </a:solidFill>
              </a:rPr>
              <a:t>10</a:t>
            </a:r>
          </a:p>
          <a:p>
            <a:r>
              <a:rPr lang="de-DE" sz="600" dirty="0">
                <a:solidFill>
                  <a:srgbClr val="FFFF00"/>
                </a:solidFill>
              </a:rPr>
              <a:t>9</a:t>
            </a:r>
          </a:p>
          <a:p>
            <a:r>
              <a:rPr lang="de-DE" sz="600" dirty="0">
                <a:solidFill>
                  <a:srgbClr val="FFFF00"/>
                </a:solidFill>
              </a:rPr>
              <a:t>8</a:t>
            </a:r>
          </a:p>
          <a:p>
            <a:r>
              <a:rPr lang="de-DE" sz="600" dirty="0">
                <a:solidFill>
                  <a:srgbClr val="FFFF00"/>
                </a:solidFill>
              </a:rPr>
              <a:t>7</a:t>
            </a:r>
          </a:p>
          <a:p>
            <a:r>
              <a:rPr lang="de-DE" sz="600" dirty="0">
                <a:solidFill>
                  <a:srgbClr val="FFFF00"/>
                </a:solidFill>
              </a:rPr>
              <a:t>6</a:t>
            </a:r>
          </a:p>
          <a:p>
            <a:r>
              <a:rPr lang="de-DE" sz="600" dirty="0">
                <a:solidFill>
                  <a:srgbClr val="FFFF00"/>
                </a:solidFill>
              </a:rPr>
              <a:t>5</a:t>
            </a:r>
          </a:p>
          <a:p>
            <a:r>
              <a:rPr lang="de-DE" sz="600" dirty="0">
                <a:solidFill>
                  <a:srgbClr val="FFFF00"/>
                </a:solidFill>
              </a:rPr>
              <a:t>4</a:t>
            </a:r>
          </a:p>
          <a:p>
            <a:r>
              <a:rPr lang="de-DE" sz="600" dirty="0">
                <a:solidFill>
                  <a:srgbClr val="FFFF00"/>
                </a:solidFill>
              </a:rPr>
              <a:t>3</a:t>
            </a:r>
          </a:p>
          <a:p>
            <a:r>
              <a:rPr lang="de-DE" sz="600" dirty="0">
                <a:solidFill>
                  <a:srgbClr val="FFFF00"/>
                </a:solidFill>
              </a:rPr>
              <a:t>2</a:t>
            </a:r>
          </a:p>
          <a:p>
            <a:r>
              <a:rPr lang="de-DE" sz="600" dirty="0">
                <a:solidFill>
                  <a:srgbClr val="FFFF00"/>
                </a:solidFill>
              </a:rPr>
              <a:t>1</a:t>
            </a:r>
          </a:p>
          <a:p>
            <a:r>
              <a:rPr lang="de-DE" sz="600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43" name="Sprechblase: oval 42">
            <a:extLst>
              <a:ext uri="{FF2B5EF4-FFF2-40B4-BE49-F238E27FC236}">
                <a16:creationId xmlns:a16="http://schemas.microsoft.com/office/drawing/2014/main" id="{BB71E143-E900-8F65-FA42-D928D4330DA7}"/>
              </a:ext>
            </a:extLst>
          </p:cNvPr>
          <p:cNvSpPr/>
          <p:nvPr/>
        </p:nvSpPr>
        <p:spPr>
          <a:xfrm>
            <a:off x="7574233" y="3471863"/>
            <a:ext cx="356917" cy="306324"/>
          </a:xfrm>
          <a:prstGeom prst="wedgeEllipseCallout">
            <a:avLst>
              <a:gd name="adj1" fmla="val -14606"/>
              <a:gd name="adj2" fmla="val 853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+</a:t>
            </a:r>
          </a:p>
        </p:txBody>
      </p:sp>
      <p:sp>
        <p:nvSpPr>
          <p:cNvPr id="45" name="Sprechblase: oval 44">
            <a:extLst>
              <a:ext uri="{FF2B5EF4-FFF2-40B4-BE49-F238E27FC236}">
                <a16:creationId xmlns:a16="http://schemas.microsoft.com/office/drawing/2014/main" id="{E6B5297F-1652-4FA8-0550-41B5F0562620}"/>
              </a:ext>
            </a:extLst>
          </p:cNvPr>
          <p:cNvSpPr/>
          <p:nvPr/>
        </p:nvSpPr>
        <p:spPr>
          <a:xfrm>
            <a:off x="7876778" y="4147606"/>
            <a:ext cx="356917" cy="306324"/>
          </a:xfrm>
          <a:prstGeom prst="wedgeEllipseCallout">
            <a:avLst>
              <a:gd name="adj1" fmla="val -75096"/>
              <a:gd name="adj2" fmla="val -784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-</a:t>
            </a:r>
          </a:p>
        </p:txBody>
      </p:sp>
      <p:sp>
        <p:nvSpPr>
          <p:cNvPr id="47" name="Sprechblase: rechteckig mit abgerundeten Ecken 46">
            <a:extLst>
              <a:ext uri="{FF2B5EF4-FFF2-40B4-BE49-F238E27FC236}">
                <a16:creationId xmlns:a16="http://schemas.microsoft.com/office/drawing/2014/main" id="{01E51520-3915-250E-F111-D06E587E7AF6}"/>
              </a:ext>
            </a:extLst>
          </p:cNvPr>
          <p:cNvSpPr/>
          <p:nvPr/>
        </p:nvSpPr>
        <p:spPr>
          <a:xfrm>
            <a:off x="69850" y="6090291"/>
            <a:ext cx="1974634" cy="724986"/>
          </a:xfrm>
          <a:prstGeom prst="wedgeRoundRectCallout">
            <a:avLst>
              <a:gd name="adj1" fmla="val 76708"/>
              <a:gd name="adj2" fmla="val -5577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/>
              <a:t>LED-Testplatine</a:t>
            </a:r>
          </a:p>
        </p:txBody>
      </p:sp>
    </p:spTree>
    <p:extLst>
      <p:ext uri="{BB962C8B-B14F-4D97-AF65-F5344CB8AC3E}">
        <p14:creationId xmlns:p14="http://schemas.microsoft.com/office/powerpoint/2010/main" val="517377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Breitbild</PresentationFormat>
  <Paragraphs>52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 Jungwirth</dc:creator>
  <cp:lastModifiedBy>Marian Jungwirth</cp:lastModifiedBy>
  <cp:revision>4</cp:revision>
  <dcterms:created xsi:type="dcterms:W3CDTF">2026-09-16T13:10:02Z</dcterms:created>
  <dcterms:modified xsi:type="dcterms:W3CDTF">2026-09-17T07:26:02Z</dcterms:modified>
</cp:coreProperties>
</file>